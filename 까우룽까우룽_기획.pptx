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d1ed6635-b631-0eeb-5a3f-24c977443548}">
          <p14:sldIdLst>
            <p14:sldId id="256"/>
          </p14:sldIdLst>
        </p14:section>
        <p14:section name="사례 1 · AWS Virtual Waiting Room" id="{5af1c5c0-dcf2-040d-2488-ffd34472311a}">
          <p14:sldIdLst>
            <p14:sldId id="257"/>
            <p14:sldId id="258"/>
            <p14:sldId id="259"/>
          </p14:sldIdLst>
        </p14:section>
        <p14:section name="사례 2 · 카페24 오토스케일링" id="{bf2c4d89-adfc-3fa5-0779-a6b847ff9724}">
          <p14:sldIdLst>
            <p14:sldId id="260"/>
            <p14:sldId id="261"/>
            <p14:sldId id="262"/>
          </p14:sldIdLst>
        </p14:section>
        <p14:section name="사례 3 · Cloud DB Serverless" id="{8c6e8b4d-7d84-8181-f472-6d8b8db6f34c}">
          <p14:sldIdLst>
            <p14:sldId id="263"/>
            <p14:sldId id="264"/>
            <p14:sldId id="265"/>
          </p14:sldIdLst>
        </p14:section>
        <p14:section name="프로젝트(안)" id="{4e108791-8526-273a-6586-ae080978eb48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B2A2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B2A20"/>
                </a:solidFill>
                <a:latin typeface="+mn-lt"/>
              </a:rPr>
              <a:t>오픈 정각의 요청 수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요청 수</c:v>
                </c:pt>
              </c:strCache>
            </c:strRef>
          </c:tx>
          <c:spPr>
            <a:solidFill>
              <a:srgbClr val="D9632B"/>
            </a:solidFill>
            <a:ln w="38100" cap="flat">
              <a:solidFill>
                <a:srgbClr val="D963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D9632B"/>
              </a:solidFill>
              <a:ln w="9525" cap="flat">
                <a:solidFill>
                  <a:srgbClr val="D963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11:50</c:v>
                  </c:pt>
                  <c:pt idx="1">
                    <c:v>11:55</c:v>
                  </c:pt>
                  <c:pt idx="2">
                    <c:v>11:58</c:v>
                  </c:pt>
                  <c:pt idx="3">
                    <c:v>11:59</c:v>
                  </c:pt>
                  <c:pt idx="4">
                    <c:v>12:00</c:v>
                  </c:pt>
                  <c:pt idx="5">
                    <c:v>12:01</c:v>
                  </c:pt>
                  <c:pt idx="6">
                    <c:v>12:05</c:v>
                  </c:pt>
                  <c:pt idx="7">
                    <c:v>12:10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</c:v>
                </c:pt>
                <c:pt idx="1">
                  <c:v>4</c:v>
                </c:pt>
                <c:pt idx="2">
                  <c:v>6</c:v>
                </c:pt>
                <c:pt idx="3">
                  <c:v>12</c:v>
                </c:pt>
                <c:pt idx="4">
                  <c:v>95</c:v>
                </c:pt>
                <c:pt idx="5">
                  <c:v>60</c:v>
                </c:pt>
                <c:pt idx="6">
                  <c:v>25</c:v>
                </c:pt>
                <c:pt idx="7">
                  <c:v>10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A5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동시 접속</c:v>
                </c:pt>
              </c:strCache>
            </c:strRef>
          </c:tx>
          <c:spPr>
            <a:solidFill>
              <a:srgbClr val="D9632B"/>
            </a:solidFill>
            <a:ln w="38100" cap="flat">
              <a:solidFill>
                <a:srgbClr val="D963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D9632B"/>
              </a:solidFill>
              <a:ln w="9525" cap="flat">
                <a:solidFill>
                  <a:srgbClr val="D963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T-10</c:v>
                  </c:pt>
                  <c:pt idx="1">
                    <c:v>T-5</c:v>
                  </c:pt>
                  <c:pt idx="2">
                    <c:v>T</c:v>
                  </c:pt>
                  <c:pt idx="3">
                    <c:v>T+5</c:v>
                  </c:pt>
                  <c:pt idx="4">
                    <c:v>T+10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8</c:v>
                </c:pt>
                <c:pt idx="2">
                  <c:v>90</c:v>
                </c:pt>
                <c:pt idx="3">
                  <c:v>60</c:v>
                </c:pt>
                <c:pt idx="4">
                  <c:v>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서버 용량</c:v>
                </c:pt>
              </c:strCache>
            </c:strRef>
          </c:tx>
          <c:spPr>
            <a:solidFill>
              <a:srgbClr val="3E7C8C"/>
            </a:solidFill>
            <a:ln w="38100" cap="flat">
              <a:solidFill>
                <a:srgbClr val="3E7C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3E7C8C"/>
              </a:solidFill>
              <a:ln w="9525" cap="flat">
                <a:solidFill>
                  <a:srgbClr val="3E7C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T-10</c:v>
                  </c:pt>
                  <c:pt idx="1">
                    <c:v>T-5</c:v>
                  </c:pt>
                  <c:pt idx="2">
                    <c:v>T</c:v>
                  </c:pt>
                  <c:pt idx="3">
                    <c:v>T+5</c:v>
                  </c:pt>
                  <c:pt idx="4">
                    <c:v>T+10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20</c:v>
                </c:pt>
                <c:pt idx="1">
                  <c:v>20</c:v>
                </c:pt>
                <c:pt idx="2">
                  <c:v>70</c:v>
                </c:pt>
                <c:pt idx="3">
                  <c:v>90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A5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B2A2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B2A2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B2A20"/>
                </a:solidFill>
                <a:latin typeface="+mn-lt"/>
              </a:rPr>
              <a:t>기존 VM 기반 DB (개념)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미리 확보한 서버 용량</c:v>
                </c:pt>
              </c:strCache>
            </c:strRef>
          </c:tx>
          <c:spPr>
            <a:solidFill>
              <a:srgbClr val="B8A99C"/>
            </a:solidFill>
            <a:ln w="38100" cap="flat">
              <a:solidFill>
                <a:srgbClr val="B8A99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B8A99C"/>
              </a:solidFill>
              <a:ln w="9525" cap="flat">
                <a:solidFill>
                  <a:srgbClr val="B8A99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00시</c:v>
                  </c:pt>
                  <c:pt idx="1">
                    <c:v>04시</c:v>
                  </c:pt>
                  <c:pt idx="2">
                    <c:v>08시</c:v>
                  </c:pt>
                  <c:pt idx="3">
                    <c:v>12시</c:v>
                  </c:pt>
                  <c:pt idx="4">
                    <c:v>16시</c:v>
                  </c:pt>
                  <c:pt idx="5">
                    <c:v>20시</c:v>
                  </c:pt>
                  <c:pt idx="6">
                    <c:v>24시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70</c:v>
                </c:pt>
                <c:pt idx="1">
                  <c:v>70</c:v>
                </c:pt>
                <c:pt idx="2">
                  <c:v>70</c:v>
                </c:pt>
                <c:pt idx="3">
                  <c:v>70</c:v>
                </c:pt>
                <c:pt idx="4">
                  <c:v>70</c:v>
                </c:pt>
                <c:pt idx="5">
                  <c:v>70</c:v>
                </c:pt>
                <c:pt idx="6">
                  <c:v>70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실제 사용량</c:v>
                </c:pt>
              </c:strCache>
            </c:strRef>
          </c:tx>
          <c:spPr>
            <a:solidFill>
              <a:srgbClr val="D9632B"/>
            </a:solidFill>
            <a:ln w="38100" cap="flat">
              <a:solidFill>
                <a:srgbClr val="D963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D9632B"/>
              </a:solidFill>
              <a:ln w="9525" cap="flat">
                <a:solidFill>
                  <a:srgbClr val="D963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00시</c:v>
                  </c:pt>
                  <c:pt idx="1">
                    <c:v>04시</c:v>
                  </c:pt>
                  <c:pt idx="2">
                    <c:v>08시</c:v>
                  </c:pt>
                  <c:pt idx="3">
                    <c:v>12시</c:v>
                  </c:pt>
                  <c:pt idx="4">
                    <c:v>16시</c:v>
                  </c:pt>
                  <c:pt idx="5">
                    <c:v>20시</c:v>
                  </c:pt>
                  <c:pt idx="6">
                    <c:v>24시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</c:v>
                </c:pt>
                <c:pt idx="1">
                  <c:v>8</c:v>
                </c:pt>
                <c:pt idx="2">
                  <c:v>25</c:v>
                </c:pt>
                <c:pt idx="3">
                  <c:v>60</c:v>
                </c:pt>
                <c:pt idx="4">
                  <c:v>45</c:v>
                </c:pt>
                <c:pt idx="5">
                  <c:v>30</c:v>
                </c:pt>
                <c:pt idx="6">
                  <c:v>12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A5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B2A2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B2A2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B2A20"/>
                </a:solidFill>
                <a:latin typeface="+mn-lt"/>
              </a:rPr>
              <a:t>Cloud DB Serverless (개념)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서버 자원 (자동 증감)</c:v>
                </c:pt>
              </c:strCache>
            </c:strRef>
          </c:tx>
          <c:spPr>
            <a:solidFill>
              <a:srgbClr val="7D8F4E"/>
            </a:solidFill>
            <a:ln w="38100" cap="flat">
              <a:solidFill>
                <a:srgbClr val="7D8F4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7D8F4E"/>
              </a:solidFill>
              <a:ln w="9525" cap="flat">
                <a:solidFill>
                  <a:srgbClr val="7D8F4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00시</c:v>
                  </c:pt>
                  <c:pt idx="1">
                    <c:v>04시</c:v>
                  </c:pt>
                  <c:pt idx="2">
                    <c:v>08시</c:v>
                  </c:pt>
                  <c:pt idx="3">
                    <c:v>12시</c:v>
                  </c:pt>
                  <c:pt idx="4">
                    <c:v>16시</c:v>
                  </c:pt>
                  <c:pt idx="5">
                    <c:v>20시</c:v>
                  </c:pt>
                  <c:pt idx="6">
                    <c:v>24시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</c:v>
                </c:pt>
                <c:pt idx="1">
                  <c:v>12</c:v>
                </c:pt>
                <c:pt idx="2">
                  <c:v>30</c:v>
                </c:pt>
                <c:pt idx="3">
                  <c:v>66</c:v>
                </c:pt>
                <c:pt idx="4">
                  <c:v>50</c:v>
                </c:pt>
                <c:pt idx="5">
                  <c:v>35</c:v>
                </c:pt>
                <c:pt idx="6">
                  <c:v>15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실제 사용량</c:v>
                </c:pt>
              </c:strCache>
            </c:strRef>
          </c:tx>
          <c:spPr>
            <a:solidFill>
              <a:srgbClr val="D9632B"/>
            </a:solidFill>
            <a:ln w="38100" cap="flat">
              <a:solidFill>
                <a:srgbClr val="D963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D9632B"/>
              </a:solidFill>
              <a:ln w="9525" cap="flat">
                <a:solidFill>
                  <a:srgbClr val="D963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00시</c:v>
                  </c:pt>
                  <c:pt idx="1">
                    <c:v>04시</c:v>
                  </c:pt>
                  <c:pt idx="2">
                    <c:v>08시</c:v>
                  </c:pt>
                  <c:pt idx="3">
                    <c:v>12시</c:v>
                  </c:pt>
                  <c:pt idx="4">
                    <c:v>16시</c:v>
                  </c:pt>
                  <c:pt idx="5">
                    <c:v>20시</c:v>
                  </c:pt>
                  <c:pt idx="6">
                    <c:v>24시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</c:v>
                </c:pt>
                <c:pt idx="1">
                  <c:v>8</c:v>
                </c:pt>
                <c:pt idx="2">
                  <c:v>25</c:v>
                </c:pt>
                <c:pt idx="3">
                  <c:v>60</c:v>
                </c:pt>
                <c:pt idx="4">
                  <c:v>45</c:v>
                </c:pt>
                <c:pt idx="5">
                  <c:v>30</c:v>
                </c:pt>
                <c:pt idx="6">
                  <c:v>12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A5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B2A2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최은호입니다. 오늘은 비교과에서 해보고 싶은 프로젝트와 관련된 대표 사례 세 가지, 그리고 제가 생각하는 프로젝트 안을 발표드리겠습니다.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번째는 입구 문제입니다. 콘서트 티켓 판매처럼 특정 시점에 트래픽이 폭주하면, 서비스를 자동으로 확장하는 데도 한계가 있습니다. 그래서 요청을 어떻게 받을지부터 설계해야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AWS의 Virtual Waiting Room은 몰려드는 요청을 버퍼링해 두었다가 처리 용량이 충분할 때 통과시키는 오픈소스 솔루션입니다. API Gateway가 대기열 위치를 추적하고 토큰을 검증하고, SQS와 Lambda가 처리 속도를 조절하는 구조입니다.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저희는 이 개념을 선착순 이벤트 버튼 앞에 적용하려 합니다. AWS 서비스 자체보다 대기열로 순서를 보장한다는 원리를 가져오고, 구현은 수업에서 배운 네이버클라우드 기술로 해보려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번째는 서버 문제입니다. 쇼핑몰에 방문자가 갑자기 몰리면 사이트가 느려지고 고객 이탈이 늘어나는데, 서비스를 중단하고 서버를 늘릴 수도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카페24는 트래픽 분산 처리를 자동화하고 서버를 자동으로 증설하는 방식을 도입했습니다. 한 쇼핑몰은 이벤트로 평소보다 트래픽이 2900% 이상 급증했지만 정상 운영이 가능했다고 합니다. 2018년 보도이지만 대표적인 사례라 소개드립니다.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저희 시연에서는 청중분들이 QR로 동시에 접속하는 순간 로드밸런서와 오토스케일링이 실제로 작동하는 모습을 모니터링 대시보드로 보여드리는 것이 목표입니다.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번째는 DB 문제입니다. 기존 VM 기반 DB는 트래픽 급증에 대비해 서버를 과도하게 확보해야 했고, 사용량과 무관한 고정 비용이 발생했습니다.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네이버클라우드의 Cloud DB Serverless는 컨테이너 기반 서버리스 구조에서 CPU, 메모리, 스토리지를 트래픽에 따라 자동으로 늘리고 줄입니다. 쓴 만큼만 비용을 내는 구조가 함께 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선착순 이벤트의 순간에는 계정, 제보, 당첨 기록이 한꺼번에 DB로 쓰입니다. 그래서 DB가 병목이 되지 않는 구조가 중요하고, 이 서비스는 실제 사용 여부를 포함해 검토해보려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저희 프로젝트는 까우룽까우룽입니다. 지금 단풍과 은행이 얼마나 물들었는지를 현장 사용자의 사진 제보로 채워가는 시즌제 지도이고, 첫 시즌은 올가을 단풍입니다. 공공 지도는 절정 시기 예측이 중심이라면, 저희는 지금 이 순간의 현장을 보여드리는 것이 차별점입니다.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기능은 지도, 사진 제보, 그리고 제보를 유도하는 선착순 이벤트입니다. 이벤트는 팀 논의 후 확정할 예정입니다. 서버 쪽에서는 계정 관리, 동시 접속 트래픽 처리, 동시 요청에서 당첨자를 정확히 가리는 것이 핵심 과제입니다.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수업에서 배운 다섯 가지를 모두 서비스에 녹이는 것이 목표입니다. 일정은 서비스 구현, 인프라 구성, 부하·장애 테스트 순으로 진행해 10월 말 실서비스 시연을 보여드리겠습니다. 다만 비교과를 이수하면서 프로젝트는 변경될 수 있다는 점도 말씀드립니다.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6400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까우룽까우룽 · 클라우드 비교과 프로젝트(안)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6400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까우룽까우룽 · 클라우드 비교과 프로젝트(안)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03120"/>
            <a:ext cx="65836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474720"/>
            <a:ext cx="65836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0312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까우룽까우룽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4747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accent3"/>
                </a:solidFill>
              </a:rPr>
              <a:t>시즌제 단풍·은행 실시간 지도 서비스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5720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클라우드 비교과 프로젝트(안) 발표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0292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경희대학교 컴퓨터공학과 · 2022105752 · 최은호</a:t>
            </a:r>
            <a:endParaRPr lang="en-US" sz="1600" dirty="0"/>
          </a:p>
        </p:txBody>
      </p:sp>
      <p:sp>
        <p:nvSpPr>
          <p:cNvPr id="6" name="지도 핀 원"/>
          <p:cNvSpPr/>
          <p:nvPr/>
        </p:nvSpPr>
        <p:spPr>
          <a:xfrm>
            <a:off x="8138160" y="1463040"/>
            <a:ext cx="2926080" cy="2926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지도 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8202" y="2253082"/>
            <a:ext cx="1345997" cy="1345997"/>
          </a:xfrm>
          <a:prstGeom prst="rect">
            <a:avLst/>
          </a:prstGeom>
        </p:spPr>
      </p:pic>
      <p:sp>
        <p:nvSpPr>
          <p:cNvPr id="8" name="단풍잎 원"/>
          <p:cNvSpPr/>
          <p:nvPr/>
        </p:nvSpPr>
        <p:spPr>
          <a:xfrm>
            <a:off x="10241280" y="3566160"/>
            <a:ext cx="1737360" cy="1737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1" descr="단풍잎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0367" y="4035247"/>
            <a:ext cx="799186" cy="799186"/>
          </a:xfrm>
          <a:prstGeom prst="rect">
            <a:avLst/>
          </a:prstGeom>
        </p:spPr>
      </p:pic>
      <p:sp>
        <p:nvSpPr>
          <p:cNvPr id="10" name="사진 제보 원"/>
          <p:cNvSpPr/>
          <p:nvPr/>
        </p:nvSpPr>
        <p:spPr>
          <a:xfrm>
            <a:off x="7772400" y="4206240"/>
            <a:ext cx="1371600" cy="13716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mage 2" descr="사진 제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2732" y="4576572"/>
            <a:ext cx="630936" cy="6309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구간 태그"/>
          <p:cNvSpPr/>
          <p:nvPr/>
        </p:nvSpPr>
        <p:spPr>
          <a:xfrm>
            <a:off x="548640" y="384048"/>
            <a:ext cx="210312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구간 태그 텍스트"/>
          <p:cNvSpPr txBox="1"/>
          <p:nvPr/>
        </p:nvSpPr>
        <p:spPr>
          <a:xfrm>
            <a:off x="548640" y="3840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사례 1 · 입구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정각에 몰리는 트래픽</a:t>
            </a:r>
            <a:endParaRPr lang="en-US" sz="3600" dirty="0"/>
          </a:p>
        </p:txBody>
      </p:sp>
      <p:sp>
        <p:nvSpPr>
          <p:cNvPr id="5" name="특정 시점에 요청 폭주 원"/>
          <p:cNvSpPr/>
          <p:nvPr/>
        </p:nvSpPr>
        <p:spPr>
          <a:xfrm>
            <a:off x="548640" y="18745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특정 시점에 요청 폭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2072030"/>
            <a:ext cx="336499" cy="33649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2880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특정 시점에 요청 폭주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24028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콘서트·스포츠 티켓 판매처럼 오픈 순간에 한꺼번에 몰림</a:t>
            </a:r>
            <a:endParaRPr lang="en-US" sz="1500" dirty="0"/>
          </a:p>
        </p:txBody>
      </p:sp>
      <p:sp>
        <p:nvSpPr>
          <p:cNvPr id="9" name="자동 확장만으로는 한계 원"/>
          <p:cNvSpPr/>
          <p:nvPr/>
        </p:nvSpPr>
        <p:spPr>
          <a:xfrm>
            <a:off x="548640" y="32461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자동 확장만으로는 한계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50" y="3443630"/>
            <a:ext cx="336499" cy="33649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320040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자동 확장만으로는 한계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1508760" y="361188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이런 유형의 급증에는 서비스를 자동 확장하기 어려울 수 있음</a:t>
            </a:r>
            <a:endParaRPr lang="en-US" sz="1500" dirty="0"/>
          </a:p>
        </p:txBody>
      </p:sp>
      <p:sp>
        <p:nvSpPr>
          <p:cNvPr id="13" name="고객 경험과 인프라에 부담 원"/>
          <p:cNvSpPr/>
          <p:nvPr/>
        </p:nvSpPr>
        <p:spPr>
          <a:xfrm>
            <a:off x="548640" y="46177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mage 2" descr="고객 경험과 인프라에 부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4815230"/>
            <a:ext cx="336499" cy="33649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08760" y="457200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고객 경험과 인프라에 부담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1508760" y="498348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접속 지연과 장애로 이어질 수 있음</a:t>
            </a:r>
            <a:endParaRPr lang="en-US" sz="1500" dirty="0"/>
          </a:p>
        </p:txBody>
      </p:sp>
      <p:sp>
        <p:nvSpPr>
          <p:cNvPr id="17" name="카드"/>
          <p:cNvSpPr/>
          <p:nvPr/>
        </p:nvSpPr>
        <p:spPr>
          <a:xfrm>
            <a:off x="6492240" y="1783080"/>
            <a:ext cx="5120640" cy="397764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graphicFrame>
        <p:nvGraphicFramePr>
          <p:cNvPr id="18" name="Chart 0" descr=""/>
          <p:cNvGraphicFramePr/>
          <p:nvPr/>
        </p:nvGraphicFramePr>
        <p:xfrm>
          <a:off x="6675120" y="1874520"/>
          <a:ext cx="475488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9" name="그래프 설명"/>
          <p:cNvSpPr txBox="1"/>
          <p:nvPr/>
        </p:nvSpPr>
        <p:spPr>
          <a:xfrm>
            <a:off x="6492240" y="5852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※ 개념을 보여주는 예시 그래프 (실측 데이터 아님)</a:t>
            </a:r>
            <a:endParaRPr lang="en-US" sz="1100" dirty="0"/>
          </a:p>
        </p:txBody>
      </p:sp>
      <p:sp>
        <p:nvSpPr>
          <p:cNvPr id="20" name="출처"/>
          <p:cNvSpPr txBox="1"/>
          <p:nvPr/>
        </p:nvSpPr>
        <p:spPr>
          <a:xfrm>
            <a:off x="548640" y="63550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출처: AWS 기술 블로그 – Virtual Waiting Room (aws.amazon.com)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구간 태그"/>
          <p:cNvSpPr/>
          <p:nvPr/>
        </p:nvSpPr>
        <p:spPr>
          <a:xfrm>
            <a:off x="548640" y="384048"/>
            <a:ext cx="210312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구간 태그 텍스트"/>
          <p:cNvSpPr txBox="1"/>
          <p:nvPr/>
        </p:nvSpPr>
        <p:spPr>
          <a:xfrm>
            <a:off x="548640" y="3840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사례 1 · 입구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대기열로 순서를 만든다</a:t>
            </a:r>
            <a:endParaRPr lang="en-US" sz="3600" dirty="0"/>
          </a:p>
        </p:txBody>
      </p:sp>
      <p:sp>
        <p:nvSpPr>
          <p:cNvPr id="5" name="카드"/>
          <p:cNvSpPr/>
          <p:nvPr/>
        </p:nvSpPr>
        <p:spPr>
          <a:xfrm>
            <a:off x="548640" y="1783080"/>
            <a:ext cx="2377440" cy="182880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사용자 요청 원"/>
          <p:cNvSpPr/>
          <p:nvPr/>
        </p:nvSpPr>
        <p:spPr>
          <a:xfrm>
            <a:off x="1325880" y="19202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사용자 요청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8079" y="2142439"/>
            <a:ext cx="378562" cy="37856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2788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사용자 요청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108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정각에 한꺼번에 도착</a:t>
            </a:r>
            <a:endParaRPr lang="en-US" sz="1300" dirty="0"/>
          </a:p>
        </p:txBody>
      </p:sp>
      <p:sp>
        <p:nvSpPr>
          <p:cNvPr id="10" name="화살표"/>
          <p:cNvSpPr/>
          <p:nvPr/>
        </p:nvSpPr>
        <p:spPr>
          <a:xfrm>
            <a:off x="2971800" y="2697480"/>
            <a:ext cx="41148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카드"/>
          <p:cNvSpPr/>
          <p:nvPr/>
        </p:nvSpPr>
        <p:spPr>
          <a:xfrm>
            <a:off x="3429000" y="1783080"/>
            <a:ext cx="2377440" cy="182880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대기열 원"/>
          <p:cNvSpPr/>
          <p:nvPr/>
        </p:nvSpPr>
        <p:spPr>
          <a:xfrm>
            <a:off x="4206240" y="192024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mage 1" descr="대기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439" y="2142439"/>
            <a:ext cx="378562" cy="37856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29000" y="2788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대기열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3566160" y="3108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요청을 버퍼링해 순서대로 보관</a:t>
            </a:r>
            <a:endParaRPr lang="en-US" sz="1300" dirty="0"/>
          </a:p>
        </p:txBody>
      </p:sp>
      <p:sp>
        <p:nvSpPr>
          <p:cNvPr id="16" name="화살표"/>
          <p:cNvSpPr/>
          <p:nvPr/>
        </p:nvSpPr>
        <p:spPr>
          <a:xfrm>
            <a:off x="5852160" y="2697480"/>
            <a:ext cx="41148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카드"/>
          <p:cNvSpPr/>
          <p:nvPr/>
        </p:nvSpPr>
        <p:spPr>
          <a:xfrm>
            <a:off x="6309360" y="1783080"/>
            <a:ext cx="2377440" cy="182880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토큰 발급 원"/>
          <p:cNvSpPr/>
          <p:nvPr/>
        </p:nvSpPr>
        <p:spPr>
          <a:xfrm>
            <a:off x="7086600" y="19202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2" descr="토큰 발급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799" y="2142439"/>
            <a:ext cx="378562" cy="37856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309360" y="2788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토큰 발급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6446520" y="3108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순서가 되면 입장 토큰 부여</a:t>
            </a:r>
            <a:endParaRPr lang="en-US" sz="1300" dirty="0"/>
          </a:p>
        </p:txBody>
      </p:sp>
      <p:sp>
        <p:nvSpPr>
          <p:cNvPr id="22" name="화살표"/>
          <p:cNvSpPr/>
          <p:nvPr/>
        </p:nvSpPr>
        <p:spPr>
          <a:xfrm>
            <a:off x="8732520" y="2697480"/>
            <a:ext cx="41148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카드"/>
          <p:cNvSpPr/>
          <p:nvPr/>
        </p:nvSpPr>
        <p:spPr>
          <a:xfrm>
            <a:off x="9189720" y="1783080"/>
            <a:ext cx="2377440" cy="182880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서비스 입장 원"/>
          <p:cNvSpPr/>
          <p:nvPr/>
        </p:nvSpPr>
        <p:spPr>
          <a:xfrm>
            <a:off x="9966960" y="19202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3" descr="서비스 입장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9159" y="2142439"/>
            <a:ext cx="378562" cy="37856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189720" y="2788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서비스 입장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9326880" y="3108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처리 용량이 충분할 때 통과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구성 요소</a:t>
            </a:r>
            <a:endParaRPr lang="en-US" sz="2000" dirty="0"/>
          </a:p>
        </p:txBody>
      </p:sp>
      <p:sp>
        <p:nvSpPr>
          <p:cNvPr id="29" name="카드"/>
          <p:cNvSpPr/>
          <p:nvPr/>
        </p:nvSpPr>
        <p:spPr>
          <a:xfrm>
            <a:off x="548640" y="4297680"/>
            <a:ext cx="3566160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822960" y="4434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API Gateway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822960" y="4846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대기열 요청을 처리하고 위치를 추적, 입장 토큰을 검증</a:t>
            </a:r>
            <a:endParaRPr lang="en-US" sz="1400" dirty="0"/>
          </a:p>
        </p:txBody>
      </p:sp>
      <p:sp>
        <p:nvSpPr>
          <p:cNvPr id="32" name="카드"/>
          <p:cNvSpPr/>
          <p:nvPr/>
        </p:nvSpPr>
        <p:spPr>
          <a:xfrm>
            <a:off x="4297680" y="4297680"/>
            <a:ext cx="3566160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4572000" y="4434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Amazon SQS</a:t>
            </a:r>
            <a:endParaRPr lang="en-US" sz="1800" dirty="0"/>
          </a:p>
        </p:txBody>
      </p:sp>
      <p:sp>
        <p:nvSpPr>
          <p:cNvPr id="34" name="Text 28"/>
          <p:cNvSpPr txBox="1"/>
          <p:nvPr/>
        </p:nvSpPr>
        <p:spPr>
          <a:xfrm>
            <a:off x="4572000" y="4846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Lambda로 향하는 트래픽을 규제하는 대기열</a:t>
            </a:r>
            <a:endParaRPr lang="en-US" sz="1400" dirty="0"/>
          </a:p>
        </p:txBody>
      </p:sp>
      <p:sp>
        <p:nvSpPr>
          <p:cNvPr id="35" name="카드"/>
          <p:cNvSpPr/>
          <p:nvPr/>
        </p:nvSpPr>
        <p:spPr>
          <a:xfrm>
            <a:off x="8046720" y="4297680"/>
            <a:ext cx="3566160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8321040" y="4434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AWS Lambda</a:t>
            </a:r>
            <a:endParaRPr lang="en-US" sz="1800" dirty="0"/>
          </a:p>
        </p:txBody>
      </p:sp>
      <p:sp>
        <p:nvSpPr>
          <p:cNvPr id="37" name="Text 31"/>
          <p:cNvSpPr txBox="1"/>
          <p:nvPr/>
        </p:nvSpPr>
        <p:spPr>
          <a:xfrm>
            <a:off x="8321040" y="4846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대기열 메시지를 처리하는 함수</a:t>
            </a:r>
            <a:endParaRPr lang="en-US" sz="1400" dirty="0"/>
          </a:p>
        </p:txBody>
      </p:sp>
      <p:sp>
        <p:nvSpPr>
          <p:cNvPr id="38" name="출처"/>
          <p:cNvSpPr txBox="1"/>
          <p:nvPr/>
        </p:nvSpPr>
        <p:spPr>
          <a:xfrm>
            <a:off x="548640" y="63550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출처: AWS 기술 블로그 – Virtual Waiting Room (aws.amazon.com)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구간 태그"/>
          <p:cNvSpPr/>
          <p:nvPr/>
        </p:nvSpPr>
        <p:spPr>
          <a:xfrm>
            <a:off x="548640" y="384048"/>
            <a:ext cx="210312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구간 태그 텍스트"/>
          <p:cNvSpPr txBox="1"/>
          <p:nvPr/>
        </p:nvSpPr>
        <p:spPr>
          <a:xfrm>
            <a:off x="548640" y="3840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사례 1 · 입구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선착순 버튼 앞에 대기열</a:t>
            </a:r>
            <a:endParaRPr lang="en-US" sz="3600" dirty="0"/>
          </a:p>
        </p:txBody>
      </p:sp>
      <p:sp>
        <p:nvSpPr>
          <p:cNvPr id="5" name="이벤트 버튼 앞에 대기열 배치 원"/>
          <p:cNvSpPr/>
          <p:nvPr/>
        </p:nvSpPr>
        <p:spPr>
          <a:xfrm>
            <a:off x="548640" y="18745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이벤트 버튼 앞에 대기열 배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2072030"/>
            <a:ext cx="336499" cy="33649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2880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이벤트 버튼 앞에 대기열 배치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24028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몰린 요청을 한 번에 받지 않고 순서대로 처리</a:t>
            </a:r>
            <a:endParaRPr lang="en-US" sz="1500" dirty="0"/>
          </a:p>
        </p:txBody>
      </p:sp>
      <p:sp>
        <p:nvSpPr>
          <p:cNvPr id="9" name="핵심은 ‘순서 보장’ 개념 원"/>
          <p:cNvSpPr/>
          <p:nvPr/>
        </p:nvSpPr>
        <p:spPr>
          <a:xfrm>
            <a:off x="548640" y="32461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핵심은 ‘순서 보장’ 개념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50" y="3443630"/>
            <a:ext cx="336499" cy="33649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320040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핵심은 ‘순서 보장’ 개념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1508760" y="361188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AWS 서비스 자체보다 대기열의 원리를 가져옴</a:t>
            </a:r>
            <a:endParaRPr lang="en-US" sz="1500" dirty="0"/>
          </a:p>
        </p:txBody>
      </p:sp>
      <p:sp>
        <p:nvSpPr>
          <p:cNvPr id="13" name="구현은 수업 기술로 원"/>
          <p:cNvSpPr/>
          <p:nvPr/>
        </p:nvSpPr>
        <p:spPr>
          <a:xfrm>
            <a:off x="548640" y="46177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mage 2" descr="구현은 수업 기술로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4815230"/>
            <a:ext cx="336499" cy="33649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08760" y="457200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구현은 수업 기술로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1508760" y="498348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네이버클라우드에서 배운 기술로 구성하는 방식을 검토</a:t>
            </a:r>
            <a:endParaRPr lang="en-US" sz="1500" dirty="0"/>
          </a:p>
        </p:txBody>
      </p:sp>
      <p:sp>
        <p:nvSpPr>
          <p:cNvPr id="17" name="카드"/>
          <p:cNvSpPr/>
          <p:nvPr/>
        </p:nvSpPr>
        <p:spPr>
          <a:xfrm>
            <a:off x="6492240" y="1783080"/>
            <a:ext cx="5120640" cy="397764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492240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이벤트 오픈</a:t>
            </a:r>
            <a:endParaRPr lang="en-US" sz="1600" dirty="0"/>
          </a:p>
        </p:txBody>
      </p:sp>
      <p:sp>
        <p:nvSpPr>
          <p:cNvPr id="19" name="대기 사용자"/>
          <p:cNvSpPr/>
          <p:nvPr/>
        </p:nvSpPr>
        <p:spPr>
          <a:xfrm>
            <a:off x="7406640" y="2560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사용자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944" y="2706624"/>
            <a:ext cx="256032" cy="256032"/>
          </a:xfrm>
          <a:prstGeom prst="rect">
            <a:avLst/>
          </a:prstGeom>
        </p:spPr>
      </p:pic>
      <p:sp>
        <p:nvSpPr>
          <p:cNvPr id="21" name="대기 사용자"/>
          <p:cNvSpPr/>
          <p:nvPr/>
        </p:nvSpPr>
        <p:spPr>
          <a:xfrm>
            <a:off x="8092440" y="25603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2" name="Image 4" descr="사용자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8744" y="2706624"/>
            <a:ext cx="256032" cy="256032"/>
          </a:xfrm>
          <a:prstGeom prst="rect">
            <a:avLst/>
          </a:prstGeom>
        </p:spPr>
      </p:pic>
      <p:sp>
        <p:nvSpPr>
          <p:cNvPr id="23" name="대기 사용자"/>
          <p:cNvSpPr/>
          <p:nvPr/>
        </p:nvSpPr>
        <p:spPr>
          <a:xfrm>
            <a:off x="8778240" y="25603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4" name="Image 5" descr="사용자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4544" y="2706624"/>
            <a:ext cx="256032" cy="256032"/>
          </a:xfrm>
          <a:prstGeom prst="rect">
            <a:avLst/>
          </a:prstGeom>
        </p:spPr>
      </p:pic>
      <p:sp>
        <p:nvSpPr>
          <p:cNvPr id="25" name="대기 사용자"/>
          <p:cNvSpPr/>
          <p:nvPr/>
        </p:nvSpPr>
        <p:spPr>
          <a:xfrm>
            <a:off x="9464040" y="25603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Image 6" descr="사용자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0344" y="2706624"/>
            <a:ext cx="256032" cy="256032"/>
          </a:xfrm>
          <a:prstGeom prst="rect">
            <a:avLst/>
          </a:prstGeom>
        </p:spPr>
      </p:pic>
      <p:sp>
        <p:nvSpPr>
          <p:cNvPr id="27" name="대기 사용자"/>
          <p:cNvSpPr/>
          <p:nvPr/>
        </p:nvSpPr>
        <p:spPr>
          <a:xfrm>
            <a:off x="10149840" y="25603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8" name="Image 7" descr="사용자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96144" y="2706624"/>
            <a:ext cx="256032" cy="256032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6492240" y="32004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대기열</a:t>
            </a:r>
            <a:endParaRPr lang="en-US" sz="1400" dirty="0"/>
          </a:p>
        </p:txBody>
      </p:sp>
      <p:sp>
        <p:nvSpPr>
          <p:cNvPr id="30" name="화살표"/>
          <p:cNvSpPr/>
          <p:nvPr/>
        </p:nvSpPr>
        <p:spPr>
          <a:xfrm>
            <a:off x="9052560" y="3611880"/>
            <a:ext cx="0" cy="54864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1" name="선착순 버튼"/>
          <p:cNvSpPr/>
          <p:nvPr/>
        </p:nvSpPr>
        <p:spPr>
          <a:xfrm>
            <a:off x="7406640" y="4251960"/>
            <a:ext cx="3291840" cy="868680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22"/>
          <p:cNvSpPr txBox="1"/>
          <p:nvPr/>
        </p:nvSpPr>
        <p:spPr>
          <a:xfrm>
            <a:off x="7406640" y="42519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선착순 이벤트 버튼</a:t>
            </a:r>
            <a:endParaRPr lang="en-US" sz="2000" dirty="0"/>
          </a:p>
        </p:txBody>
      </p:sp>
      <p:sp>
        <p:nvSpPr>
          <p:cNvPr id="33" name="Text 23"/>
          <p:cNvSpPr txBox="1"/>
          <p:nvPr/>
        </p:nvSpPr>
        <p:spPr>
          <a:xfrm>
            <a:off x="6492240" y="5257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순서대로 입장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구간 태그"/>
          <p:cNvSpPr/>
          <p:nvPr/>
        </p:nvSpPr>
        <p:spPr>
          <a:xfrm>
            <a:off x="548640" y="384048"/>
            <a:ext cx="210312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구간 태그 텍스트"/>
          <p:cNvSpPr txBox="1"/>
          <p:nvPr/>
        </p:nvSpPr>
        <p:spPr>
          <a:xfrm>
            <a:off x="548640" y="3840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사례 2 · 서버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방문자가 갑자기 몰리면</a:t>
            </a:r>
            <a:endParaRPr lang="en-US" sz="3600" dirty="0"/>
          </a:p>
        </p:txBody>
      </p:sp>
      <p:sp>
        <p:nvSpPr>
          <p:cNvPr id="5" name="카드"/>
          <p:cNvSpPr/>
          <p:nvPr/>
        </p:nvSpPr>
        <p:spPr>
          <a:xfrm>
            <a:off x="548640" y="1828800"/>
            <a:ext cx="3291840" cy="246888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방문자 급증 원"/>
          <p:cNvSpPr/>
          <p:nvPr/>
        </p:nvSpPr>
        <p:spPr>
          <a:xfrm>
            <a:off x="1737360" y="201168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mage 0" descr="방문자 급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248" y="2258568"/>
            <a:ext cx="420624" cy="4206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063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방문자 급증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5204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타임세일·SNS 이벤트로 몰림</a:t>
            </a:r>
            <a:endParaRPr lang="en-US" sz="1400" dirty="0"/>
          </a:p>
        </p:txBody>
      </p:sp>
      <p:sp>
        <p:nvSpPr>
          <p:cNvPr id="10" name="화살표"/>
          <p:cNvSpPr/>
          <p:nvPr/>
        </p:nvSpPr>
        <p:spPr>
          <a:xfrm>
            <a:off x="3886200" y="3063240"/>
            <a:ext cx="50292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카드"/>
          <p:cNvSpPr/>
          <p:nvPr/>
        </p:nvSpPr>
        <p:spPr>
          <a:xfrm>
            <a:off x="4434840" y="1828800"/>
            <a:ext cx="3291840" cy="246888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사이트 지연 원"/>
          <p:cNvSpPr/>
          <p:nvPr/>
        </p:nvSpPr>
        <p:spPr>
          <a:xfrm>
            <a:off x="5623560" y="201168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mage 1" descr="사이트 지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2258568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34840" y="3063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사이트 지연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4663440" y="35204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페이지가 느려지고 불안정해짐</a:t>
            </a:r>
            <a:endParaRPr lang="en-US" sz="1400" dirty="0"/>
          </a:p>
        </p:txBody>
      </p:sp>
      <p:sp>
        <p:nvSpPr>
          <p:cNvPr id="16" name="화살표"/>
          <p:cNvSpPr/>
          <p:nvPr/>
        </p:nvSpPr>
        <p:spPr>
          <a:xfrm>
            <a:off x="7772400" y="3063240"/>
            <a:ext cx="50292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카드"/>
          <p:cNvSpPr/>
          <p:nvPr/>
        </p:nvSpPr>
        <p:spPr>
          <a:xfrm>
            <a:off x="8321040" y="1828800"/>
            <a:ext cx="3291840" cy="246888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고객 이탈 원"/>
          <p:cNvSpPr/>
          <p:nvPr/>
        </p:nvSpPr>
        <p:spPr>
          <a:xfrm>
            <a:off x="9509760" y="201168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Image 2" descr="고객 이탈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6648" y="2258568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21040" y="3063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고객 이탈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8549640" y="35204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느려진 사이트에서 고객이 떠남</a:t>
            </a:r>
            <a:endParaRPr lang="en-US" sz="1400" dirty="0"/>
          </a:p>
        </p:txBody>
      </p:sp>
      <p:sp>
        <p:nvSpPr>
          <p:cNvPr id="22" name="핵심 메시지 배너"/>
          <p:cNvSpPr/>
          <p:nvPr/>
        </p:nvSpPr>
        <p:spPr>
          <a:xfrm>
            <a:off x="548640" y="4663440"/>
            <a:ext cx="11064240" cy="1188720"/>
          </a:xfrm>
          <a:prstGeom prst="roundRect">
            <a:avLst>
              <a:gd name="adj" fmla="val 1153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서비스 중단 불가 원"/>
          <p:cNvSpPr/>
          <p:nvPr/>
        </p:nvSpPr>
        <p:spPr>
          <a:xfrm>
            <a:off x="868680" y="48920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mage 3" descr="서비스 중단 불가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190" y="5089550"/>
            <a:ext cx="336499" cy="336499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828800" y="4663440"/>
            <a:ext cx="9509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서버를 늘리려 해도 서비스를 멈출 수는 없다</a:t>
            </a:r>
            <a:endParaRPr lang="en-US" sz="2600" dirty="0"/>
          </a:p>
        </p:txBody>
      </p:sp>
      <p:sp>
        <p:nvSpPr>
          <p:cNvPr id="26" name="출처"/>
          <p:cNvSpPr txBox="1"/>
          <p:nvPr/>
        </p:nvSpPr>
        <p:spPr>
          <a:xfrm>
            <a:off x="548640" y="63550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출처: 바이라인네트워크 – 카페24 쇼핑몰 오토스케일링 (2018)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구간 태그"/>
          <p:cNvSpPr/>
          <p:nvPr/>
        </p:nvSpPr>
        <p:spPr>
          <a:xfrm>
            <a:off x="548640" y="384048"/>
            <a:ext cx="210312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구간 태그 텍스트"/>
          <p:cNvSpPr txBox="1"/>
          <p:nvPr/>
        </p:nvSpPr>
        <p:spPr>
          <a:xfrm>
            <a:off x="548640" y="3840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사례 2 · 서버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서버가 자동으로 늘어난다</a:t>
            </a:r>
            <a:endParaRPr lang="en-US" sz="3600" dirty="0"/>
          </a:p>
        </p:txBody>
      </p:sp>
      <p:sp>
        <p:nvSpPr>
          <p:cNvPr id="5" name="핵심 수치"/>
          <p:cNvSpPr txBox="1"/>
          <p:nvPr/>
        </p:nvSpPr>
        <p:spPr>
          <a:xfrm>
            <a:off x="548640" y="16916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2900%+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632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이벤트로 평소 대비 트래픽이 급증했지만 정상 운영</a:t>
            </a:r>
            <a:endParaRPr lang="en-US" sz="1800" dirty="0"/>
          </a:p>
        </p:txBody>
      </p:sp>
      <p:sp>
        <p:nvSpPr>
          <p:cNvPr id="7" name="트래픽 분산 처리 자동화 원"/>
          <p:cNvSpPr/>
          <p:nvPr/>
        </p:nvSpPr>
        <p:spPr>
          <a:xfrm>
            <a:off x="548640" y="411480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mage 0" descr="트래픽 분산 처리 자동화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4312310"/>
            <a:ext cx="336499" cy="33649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411480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트래픽 분산 처리 자동화</a:t>
            </a:r>
            <a:endParaRPr lang="en-US" sz="2000" dirty="0"/>
          </a:p>
        </p:txBody>
      </p:sp>
      <p:sp>
        <p:nvSpPr>
          <p:cNvPr id="10" name="서버 자동 증설 원"/>
          <p:cNvSpPr/>
          <p:nvPr/>
        </p:nvSpPr>
        <p:spPr>
          <a:xfrm>
            <a:off x="548640" y="50749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서버 자동 증설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50" y="5272430"/>
            <a:ext cx="336499" cy="33649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507492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서버 자동 증설</a:t>
            </a:r>
            <a:endParaRPr lang="en-US" sz="2000" dirty="0"/>
          </a:p>
        </p:txBody>
      </p:sp>
      <p:sp>
        <p:nvSpPr>
          <p:cNvPr id="13" name="카드"/>
          <p:cNvSpPr/>
          <p:nvPr/>
        </p:nvSpPr>
        <p:spPr>
          <a:xfrm>
            <a:off x="6217920" y="1783080"/>
            <a:ext cx="5394960" cy="397764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217920" y="19202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사용자 트래픽</a:t>
            </a:r>
            <a:endParaRPr lang="en-US" sz="1400" dirty="0"/>
          </a:p>
        </p:txBody>
      </p:sp>
      <p:sp>
        <p:nvSpPr>
          <p:cNvPr id="15" name="화살표"/>
          <p:cNvSpPr/>
          <p:nvPr/>
        </p:nvSpPr>
        <p:spPr>
          <a:xfrm>
            <a:off x="8915400" y="2286000"/>
            <a:ext cx="0" cy="41148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로드밸런서"/>
          <p:cNvSpPr/>
          <p:nvPr/>
        </p:nvSpPr>
        <p:spPr>
          <a:xfrm>
            <a:off x="7543800" y="2743200"/>
            <a:ext cx="2743200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543800" y="27432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로드밸런서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8915400" y="3429000"/>
            <a:ext cx="0" cy="36576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132320" y="3794760"/>
            <a:ext cx="35661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132320" y="3794760"/>
            <a:ext cx="0" cy="32004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915400" y="3794760"/>
            <a:ext cx="0" cy="32004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0698480" y="3794760"/>
            <a:ext cx="0" cy="32004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23" name="서버 1"/>
          <p:cNvSpPr/>
          <p:nvPr/>
        </p:nvSpPr>
        <p:spPr>
          <a:xfrm>
            <a:off x="6492240" y="4114800"/>
            <a:ext cx="128016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492240" y="41148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서버 1</a:t>
            </a:r>
            <a:endParaRPr lang="en-US" sz="1600" dirty="0"/>
          </a:p>
        </p:txBody>
      </p:sp>
      <p:sp>
        <p:nvSpPr>
          <p:cNvPr id="25" name="서버 2"/>
          <p:cNvSpPr/>
          <p:nvPr/>
        </p:nvSpPr>
        <p:spPr>
          <a:xfrm>
            <a:off x="8275320" y="4114800"/>
            <a:ext cx="1280160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275320" y="41148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서버 2</a:t>
            </a:r>
            <a:endParaRPr lang="en-US" sz="1600" dirty="0"/>
          </a:p>
        </p:txBody>
      </p:sp>
      <p:sp>
        <p:nvSpPr>
          <p:cNvPr id="27" name="서버 +"/>
          <p:cNvSpPr/>
          <p:nvPr/>
        </p:nvSpPr>
        <p:spPr>
          <a:xfrm>
            <a:off x="10058400" y="4114800"/>
            <a:ext cx="1280160" cy="822960"/>
          </a:xfrm>
          <a:prstGeom prst="roundRect">
            <a:avLst>
              <a:gd name="adj" fmla="val 11111"/>
            </a:avLst>
          </a:prstGeom>
          <a:solidFill>
            <a:schemeClr val="accent3"/>
          </a:solidFill>
          <a:ln w="19050">
            <a:solidFill>
              <a:schemeClr val="accent3"/>
            </a:solidFill>
            <a:prstDash val="dash"/>
          </a:ln>
        </p:spPr>
      </p:sp>
      <p:sp>
        <p:nvSpPr>
          <p:cNvPr id="28" name="Text 24"/>
          <p:cNvSpPr txBox="1"/>
          <p:nvPr/>
        </p:nvSpPr>
        <p:spPr>
          <a:xfrm>
            <a:off x="10058400" y="41148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서버 +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6217920" y="50749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트래픽이 늘면 자동으로 증설</a:t>
            </a:r>
            <a:endParaRPr lang="en-US" sz="1400" dirty="0"/>
          </a:p>
        </p:txBody>
      </p:sp>
      <p:sp>
        <p:nvSpPr>
          <p:cNvPr id="30" name="출처"/>
          <p:cNvSpPr txBox="1"/>
          <p:nvPr/>
        </p:nvSpPr>
        <p:spPr>
          <a:xfrm>
            <a:off x="548640" y="63550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출처: 바이라인네트워크 – 카페24 쇼핑몰 오토스케일링 · 2018년 보도 기준 사례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구간 태그"/>
          <p:cNvSpPr/>
          <p:nvPr/>
        </p:nvSpPr>
        <p:spPr>
          <a:xfrm>
            <a:off x="548640" y="384048"/>
            <a:ext cx="210312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구간 태그 텍스트"/>
          <p:cNvSpPr txBox="1"/>
          <p:nvPr/>
        </p:nvSpPr>
        <p:spPr>
          <a:xfrm>
            <a:off x="548640" y="3840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사례 2 · 서버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시연에서 직접 보여준다</a:t>
            </a:r>
            <a:endParaRPr lang="en-US" sz="3600" dirty="0"/>
          </a:p>
        </p:txBody>
      </p:sp>
      <p:sp>
        <p:nvSpPr>
          <p:cNvPr id="5" name="청중이 QR로 동시 접속 원"/>
          <p:cNvSpPr/>
          <p:nvPr/>
        </p:nvSpPr>
        <p:spPr>
          <a:xfrm>
            <a:off x="548640" y="18745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mage 0" descr="청중이 QR로 동시 접속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2072030"/>
            <a:ext cx="336499" cy="33649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2880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청중이 QR로 동시 접속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24028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발표 중 모두가 같은 순간에 서비스에 접속</a:t>
            </a:r>
            <a:endParaRPr lang="en-US" sz="1500" dirty="0"/>
          </a:p>
        </p:txBody>
      </p:sp>
      <p:sp>
        <p:nvSpPr>
          <p:cNvPr id="9" name="로드밸런서가 요청 분산 원"/>
          <p:cNvSpPr/>
          <p:nvPr/>
        </p:nvSpPr>
        <p:spPr>
          <a:xfrm>
            <a:off x="548640" y="32461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로드밸런서가 요청 분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50" y="3443630"/>
            <a:ext cx="336499" cy="33649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320040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로드밸런서가 요청 분산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1508760" y="361188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몰린 요청을 여러 서버로 나눠 처리</a:t>
            </a:r>
            <a:endParaRPr lang="en-US" sz="1500" dirty="0"/>
          </a:p>
        </p:txBody>
      </p:sp>
      <p:sp>
        <p:nvSpPr>
          <p:cNvPr id="13" name="오토스케일링을 화면으로 확인 원"/>
          <p:cNvSpPr/>
          <p:nvPr/>
        </p:nvSpPr>
        <p:spPr>
          <a:xfrm>
            <a:off x="548640" y="46177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mage 2" descr="오토스케일링을 화면으로 확인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4815230"/>
            <a:ext cx="336499" cy="33649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08760" y="457200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오토스케일링을 화면으로 확인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1508760" y="498348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서버가 늘어나는 과정을 모니터링 대시보드에 표시</a:t>
            </a:r>
            <a:endParaRPr lang="en-US" sz="1500" dirty="0"/>
          </a:p>
        </p:txBody>
      </p:sp>
      <p:sp>
        <p:nvSpPr>
          <p:cNvPr id="17" name="카드"/>
          <p:cNvSpPr/>
          <p:nvPr/>
        </p:nvSpPr>
        <p:spPr>
          <a:xfrm>
            <a:off x="6492240" y="1783080"/>
            <a:ext cx="5120640" cy="397764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대시보드 목업"/>
          <p:cNvSpPr/>
          <p:nvPr/>
        </p:nvSpPr>
        <p:spPr>
          <a:xfrm>
            <a:off x="6720840" y="1965960"/>
            <a:ext cx="4663440" cy="3611880"/>
          </a:xfrm>
          <a:prstGeom prst="roundRect">
            <a:avLst>
              <a:gd name="adj" fmla="val 2532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903720" y="20574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모니터링 대시보드 (구상)</a:t>
            </a:r>
            <a:endParaRPr lang="en-US" sz="13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858000" y="2377440"/>
          <a:ext cx="43891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그래프 설명"/>
          <p:cNvSpPr txBox="1"/>
          <p:nvPr/>
        </p:nvSpPr>
        <p:spPr>
          <a:xfrm>
            <a:off x="6492240" y="5852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※ 시연 화면 구상도 (예시 데이터)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구간 태그"/>
          <p:cNvSpPr/>
          <p:nvPr/>
        </p:nvSpPr>
        <p:spPr>
          <a:xfrm>
            <a:off x="548640" y="384048"/>
            <a:ext cx="210312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" name="구간 태그 텍스트"/>
          <p:cNvSpPr txBox="1"/>
          <p:nvPr/>
        </p:nvSpPr>
        <p:spPr>
          <a:xfrm>
            <a:off x="548640" y="3840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사례 3 · DB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DB는 미리 크게 잡아야 했다</a:t>
            </a:r>
            <a:endParaRPr lang="en-US" sz="3600" dirty="0"/>
          </a:p>
        </p:txBody>
      </p:sp>
      <p:sp>
        <p:nvSpPr>
          <p:cNvPr id="5" name="카드"/>
          <p:cNvSpPr/>
          <p:nvPr/>
        </p:nvSpPr>
        <p:spPr>
          <a:xfrm>
            <a:off x="548640" y="1783080"/>
            <a:ext cx="6035040" cy="397764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731520" y="1874520"/>
          <a:ext cx="566928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그래프 설명"/>
          <p:cNvSpPr txBox="1"/>
          <p:nvPr/>
        </p:nvSpPr>
        <p:spPr>
          <a:xfrm>
            <a:off x="548640" y="58521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※ 개념을 보여주는 예시 그래프 (실측 데이터 아님)</a:t>
            </a:r>
            <a:endParaRPr lang="en-US" sz="1100" dirty="0"/>
          </a:p>
        </p:txBody>
      </p:sp>
      <p:sp>
        <p:nvSpPr>
          <p:cNvPr id="8" name="카드"/>
          <p:cNvSpPr/>
          <p:nvPr/>
        </p:nvSpPr>
        <p:spPr>
          <a:xfrm>
            <a:off x="6949440" y="1783080"/>
            <a:ext cx="4663440" cy="182880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서버 과다 확보 원"/>
          <p:cNvSpPr/>
          <p:nvPr/>
        </p:nvSpPr>
        <p:spPr>
          <a:xfrm>
            <a:off x="7223760" y="233172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Image 0" descr="서버 과다 확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1270" y="2529230"/>
            <a:ext cx="336499" cy="33649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183880" y="2194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서버 과다 확보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8183880" y="265176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트래픽 급증에 대비해 미리 크게 잡아둠</a:t>
            </a:r>
            <a:endParaRPr lang="en-US" sz="1500" dirty="0"/>
          </a:p>
        </p:txBody>
      </p:sp>
      <p:sp>
        <p:nvSpPr>
          <p:cNvPr id="13" name="카드"/>
          <p:cNvSpPr/>
          <p:nvPr/>
        </p:nvSpPr>
        <p:spPr>
          <a:xfrm>
            <a:off x="6949440" y="3931920"/>
            <a:ext cx="4663440" cy="182880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고정 비용 원"/>
          <p:cNvSpPr/>
          <p:nvPr/>
        </p:nvSpPr>
        <p:spPr>
          <a:xfrm>
            <a:off x="7223760" y="448056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Image 1" descr="고정 비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1270" y="4678070"/>
            <a:ext cx="336499" cy="33649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183880" y="4343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고정 비용 발생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183880" y="48006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실제 사용량과 무관하게 비용이 나감</a:t>
            </a:r>
            <a:endParaRPr lang="en-US" sz="1500" dirty="0"/>
          </a:p>
        </p:txBody>
      </p:sp>
      <p:sp>
        <p:nvSpPr>
          <p:cNvPr id="18" name="출처"/>
          <p:cNvSpPr txBox="1"/>
          <p:nvPr/>
        </p:nvSpPr>
        <p:spPr>
          <a:xfrm>
            <a:off x="548640" y="63550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출처: CEO스코어데일리 · 벤처스퀘어 – 네이버클라우드 Cloud DB Serverless (2026.05)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구간 태그"/>
          <p:cNvSpPr/>
          <p:nvPr/>
        </p:nvSpPr>
        <p:spPr>
          <a:xfrm>
            <a:off x="548640" y="384048"/>
            <a:ext cx="210312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" name="구간 태그 텍스트"/>
          <p:cNvSpPr txBox="1"/>
          <p:nvPr/>
        </p:nvSpPr>
        <p:spPr>
          <a:xfrm>
            <a:off x="548640" y="3840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사례 3 · DB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DB 자원도 자동으로 늘고 준다</a:t>
            </a:r>
            <a:endParaRPr lang="en-US" sz="3600" dirty="0"/>
          </a:p>
        </p:txBody>
      </p:sp>
      <p:sp>
        <p:nvSpPr>
          <p:cNvPr id="5" name="컨테이너 기반 서버리스 원"/>
          <p:cNvSpPr/>
          <p:nvPr/>
        </p:nvSpPr>
        <p:spPr>
          <a:xfrm>
            <a:off x="548640" y="187452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Image 0" descr="컨테이너 기반 서버리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2072030"/>
            <a:ext cx="336499" cy="33649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2880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컨테이너 기반 서버리스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24028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DB를 위한 인프라를 직접 관리하지 않는 구조</a:t>
            </a:r>
            <a:endParaRPr lang="en-US" sz="1500" dirty="0"/>
          </a:p>
        </p:txBody>
      </p:sp>
      <p:sp>
        <p:nvSpPr>
          <p:cNvPr id="9" name="CPU·메모리·스토리지 자동 증감 원"/>
          <p:cNvSpPr/>
          <p:nvPr/>
        </p:nvSpPr>
        <p:spPr>
          <a:xfrm>
            <a:off x="548640" y="324612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Image 1" descr="CPU·메모리·스토리지 자동 증감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50" y="3443630"/>
            <a:ext cx="336499" cy="33649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320040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CPU·메모리·스토리지 자동 증감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1508760" y="361188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트래픽에 따라 자원이 늘거나 줄어듦</a:t>
            </a:r>
            <a:endParaRPr lang="en-US" sz="1500" dirty="0"/>
          </a:p>
        </p:txBody>
      </p:sp>
      <p:sp>
        <p:nvSpPr>
          <p:cNvPr id="13" name="사용량 기반 과금 원"/>
          <p:cNvSpPr/>
          <p:nvPr/>
        </p:nvSpPr>
        <p:spPr>
          <a:xfrm>
            <a:off x="548640" y="461772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4" name="Image 2" descr="사용량 기반 과금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4815230"/>
            <a:ext cx="336499" cy="33649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08760" y="457200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사용량 기반 과금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1508760" y="498348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쓴 만큼만 비용을 내는 구조와 결합</a:t>
            </a:r>
            <a:endParaRPr lang="en-US" sz="1500" dirty="0"/>
          </a:p>
        </p:txBody>
      </p:sp>
      <p:sp>
        <p:nvSpPr>
          <p:cNvPr id="17" name="카드"/>
          <p:cNvSpPr/>
          <p:nvPr/>
        </p:nvSpPr>
        <p:spPr>
          <a:xfrm>
            <a:off x="6309360" y="1783080"/>
            <a:ext cx="5303520" cy="397764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graphicFrame>
        <p:nvGraphicFramePr>
          <p:cNvPr id="18" name="Chart 0" descr=""/>
          <p:cNvGraphicFramePr/>
          <p:nvPr/>
        </p:nvGraphicFramePr>
        <p:xfrm>
          <a:off x="6492240" y="1874520"/>
          <a:ext cx="493776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9" name="그래프 설명"/>
          <p:cNvSpPr txBox="1"/>
          <p:nvPr/>
        </p:nvSpPr>
        <p:spPr>
          <a:xfrm>
            <a:off x="6309360" y="58521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※ 개념을 보여주는 예시 그래프 (실측 데이터 아님)</a:t>
            </a:r>
            <a:endParaRPr lang="en-US" sz="1100" dirty="0"/>
          </a:p>
        </p:txBody>
      </p:sp>
      <p:sp>
        <p:nvSpPr>
          <p:cNvPr id="20" name="출처"/>
          <p:cNvSpPr txBox="1"/>
          <p:nvPr/>
        </p:nvSpPr>
        <p:spPr>
          <a:xfrm>
            <a:off x="548640" y="63550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출처: CEO스코어데일리 · 벤처스퀘어 – 네이버클라우드 출시 보도 기준 (2026.05)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구간 태그"/>
          <p:cNvSpPr/>
          <p:nvPr/>
        </p:nvSpPr>
        <p:spPr>
          <a:xfrm>
            <a:off x="548640" y="384048"/>
            <a:ext cx="210312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" name="구간 태그 텍스트"/>
          <p:cNvSpPr txBox="1"/>
          <p:nvPr/>
        </p:nvSpPr>
        <p:spPr>
          <a:xfrm>
            <a:off x="548640" y="3840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사례 3 · DB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이벤트 순간, DB가 버텨야 한다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DB가 맡는 데이터</a:t>
            </a:r>
            <a:endParaRPr lang="en-US" sz="2000" dirty="0"/>
          </a:p>
        </p:txBody>
      </p:sp>
      <p:sp>
        <p:nvSpPr>
          <p:cNvPr id="6" name="카드"/>
          <p:cNvSpPr/>
          <p:nvPr/>
        </p:nvSpPr>
        <p:spPr>
          <a:xfrm>
            <a:off x="548640" y="2286000"/>
            <a:ext cx="4937760" cy="1005840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계정 원"/>
          <p:cNvSpPr/>
          <p:nvPr/>
        </p:nvSpPr>
        <p:spPr>
          <a:xfrm>
            <a:off x="777240" y="2441448"/>
            <a:ext cx="694944" cy="69494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Image 0" descr="계정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875" y="2629083"/>
            <a:ext cx="319674" cy="31967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91640" y="2395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계정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27797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사용자 계정 데이터</a:t>
            </a:r>
            <a:endParaRPr lang="en-US" sz="1400" dirty="0"/>
          </a:p>
        </p:txBody>
      </p:sp>
      <p:sp>
        <p:nvSpPr>
          <p:cNvPr id="11" name="카드"/>
          <p:cNvSpPr/>
          <p:nvPr/>
        </p:nvSpPr>
        <p:spPr>
          <a:xfrm>
            <a:off x="548640" y="3474720"/>
            <a:ext cx="4937760" cy="1005840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제보 원"/>
          <p:cNvSpPr/>
          <p:nvPr/>
        </p:nvSpPr>
        <p:spPr>
          <a:xfrm>
            <a:off x="777240" y="3630168"/>
            <a:ext cx="694944" cy="69494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3" name="Image 1" descr="제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875" y="3817803"/>
            <a:ext cx="319674" cy="31967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691640" y="3584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제보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691640" y="39684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단풍·은행 사진 제보 정보</a:t>
            </a:r>
            <a:endParaRPr lang="en-US" sz="1400" dirty="0"/>
          </a:p>
        </p:txBody>
      </p:sp>
      <p:sp>
        <p:nvSpPr>
          <p:cNvPr id="16" name="카드"/>
          <p:cNvSpPr/>
          <p:nvPr/>
        </p:nvSpPr>
        <p:spPr>
          <a:xfrm>
            <a:off x="548640" y="4663440"/>
            <a:ext cx="4937760" cy="1005840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당첨 기록 원"/>
          <p:cNvSpPr/>
          <p:nvPr/>
        </p:nvSpPr>
        <p:spPr>
          <a:xfrm>
            <a:off x="777240" y="4818888"/>
            <a:ext cx="694944" cy="69494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Image 2" descr="당첨 기록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875" y="5006523"/>
            <a:ext cx="319674" cy="31967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91640" y="4773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당첨 기록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1691640" y="51572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선착순 이벤트 결과</a:t>
            </a:r>
            <a:endParaRPr lang="en-US" sz="1400" dirty="0"/>
          </a:p>
        </p:txBody>
      </p:sp>
      <p:sp>
        <p:nvSpPr>
          <p:cNvPr id="21" name="카드"/>
          <p:cNvSpPr/>
          <p:nvPr/>
        </p:nvSpPr>
        <p:spPr>
          <a:xfrm>
            <a:off x="5943600" y="1783080"/>
            <a:ext cx="5669280" cy="397764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943600" y="19202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이벤트 순간</a:t>
            </a:r>
            <a:endParaRPr lang="en-US" sz="1600" dirty="0"/>
          </a:p>
        </p:txBody>
      </p:sp>
      <p:pic>
        <p:nvPicPr>
          <p:cNvPr id="23" name="Image 3" descr="쓰기 요청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377440"/>
            <a:ext cx="411480" cy="411480"/>
          </a:xfrm>
          <a:prstGeom prst="rect">
            <a:avLst/>
          </a:prstGeom>
        </p:spPr>
      </p:pic>
      <p:pic>
        <p:nvPicPr>
          <p:cNvPr id="24" name="Image 4" descr="쓰기 요청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2377440"/>
            <a:ext cx="411480" cy="411480"/>
          </a:xfrm>
          <a:prstGeom prst="rect">
            <a:avLst/>
          </a:prstGeom>
        </p:spPr>
      </p:pic>
      <p:pic>
        <p:nvPicPr>
          <p:cNvPr id="25" name="Image 5" descr="쓰기 요청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2377440"/>
            <a:ext cx="411480" cy="411480"/>
          </a:xfrm>
          <a:prstGeom prst="rect">
            <a:avLst/>
          </a:prstGeom>
        </p:spPr>
      </p:pic>
      <p:pic>
        <p:nvPicPr>
          <p:cNvPr id="26" name="Image 6" descr="쓰기 요청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0" y="2377440"/>
            <a:ext cx="411480" cy="411480"/>
          </a:xfrm>
          <a:prstGeom prst="rect">
            <a:avLst/>
          </a:prstGeom>
        </p:spPr>
      </p:pic>
      <p:pic>
        <p:nvPicPr>
          <p:cNvPr id="27" name="Image 7" descr="쓰기 요청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9800" y="2377440"/>
            <a:ext cx="411480" cy="411480"/>
          </a:xfrm>
          <a:prstGeom prst="rect">
            <a:avLst/>
          </a:prstGeom>
        </p:spPr>
      </p:pic>
      <p:sp>
        <p:nvSpPr>
          <p:cNvPr id="28" name="데이터베이스 원"/>
          <p:cNvSpPr/>
          <p:nvPr/>
        </p:nvSpPr>
        <p:spPr>
          <a:xfrm>
            <a:off x="7955280" y="283464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9" name="Image 8" descr="데이터베이스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5612" y="3204972"/>
            <a:ext cx="630936" cy="630936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6126480" y="4343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쓰기 요청이 한꺼번에 몰려도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DB가 병목이 되지 않아야 함</a:t>
            </a:r>
            <a:endParaRPr lang="en-US" sz="1800" dirty="0"/>
          </a:p>
        </p:txBody>
      </p:sp>
      <p:sp>
        <p:nvSpPr>
          <p:cNvPr id="31" name="검토 중 표시"/>
          <p:cNvSpPr/>
          <p:nvPr/>
        </p:nvSpPr>
        <p:spPr>
          <a:xfrm>
            <a:off x="6720840" y="5212080"/>
            <a:ext cx="4114800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2" name="Text 21"/>
          <p:cNvSpPr txBox="1"/>
          <p:nvPr/>
        </p:nvSpPr>
        <p:spPr>
          <a:xfrm>
            <a:off x="6720840" y="52120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Cloud DB Serverless 사용 여부: 검토 중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구간 태그"/>
          <p:cNvSpPr/>
          <p:nvPr/>
        </p:nvSpPr>
        <p:spPr>
          <a:xfrm>
            <a:off x="548640" y="384048"/>
            <a:ext cx="210312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구간 태그 텍스트"/>
          <p:cNvSpPr txBox="1"/>
          <p:nvPr/>
        </p:nvSpPr>
        <p:spPr>
          <a:xfrm>
            <a:off x="548640" y="3840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프로젝트(안)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지금 이 순간의 단풍 지도</a:t>
            </a:r>
            <a:endParaRPr lang="en-US" sz="3600" dirty="0"/>
          </a:p>
        </p:txBody>
      </p:sp>
      <p:sp>
        <p:nvSpPr>
          <p:cNvPr id="5" name="서비스 소개 카드"/>
          <p:cNvSpPr/>
          <p:nvPr/>
        </p:nvSpPr>
        <p:spPr>
          <a:xfrm>
            <a:off x="548640" y="1783080"/>
            <a:ext cx="5486400" cy="3977640"/>
          </a:xfrm>
          <a:prstGeom prst="roundRect">
            <a:avLst>
              <a:gd name="adj" fmla="val 459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지도 원"/>
          <p:cNvSpPr/>
          <p:nvPr/>
        </p:nvSpPr>
        <p:spPr>
          <a:xfrm>
            <a:off x="868680" y="210312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지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7" y="2374697"/>
            <a:ext cx="462686" cy="46268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3291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까우룽까우룽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7947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현장 사용자의 사진 제보로 채워가는 시즌제 지도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5166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지금 단풍·은행이 얼마나 물들었는지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공공 지도와의 차이</a:t>
            </a:r>
            <a:endParaRPr lang="en-US" sz="2000" dirty="0"/>
          </a:p>
        </p:txBody>
      </p:sp>
      <p:sp>
        <p:nvSpPr>
          <p:cNvPr id="12" name="카드"/>
          <p:cNvSpPr/>
          <p:nvPr/>
        </p:nvSpPr>
        <p:spPr>
          <a:xfrm>
            <a:off x="6492240" y="2240280"/>
            <a:ext cx="2468880" cy="1417320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92240" y="2377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공공 단풍지도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절정 시기 예측 중심</a:t>
            </a:r>
            <a:endParaRPr lang="en-US" sz="1500" dirty="0"/>
          </a:p>
        </p:txBody>
      </p:sp>
      <p:sp>
        <p:nvSpPr>
          <p:cNvPr id="15" name="카드"/>
          <p:cNvSpPr/>
          <p:nvPr/>
        </p:nvSpPr>
        <p:spPr>
          <a:xfrm>
            <a:off x="9144000" y="2240280"/>
            <a:ext cx="2468880" cy="1417320"/>
          </a:xfrm>
          <a:prstGeom prst="roundRect">
            <a:avLst>
              <a:gd name="adj" fmla="val 967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44000" y="2377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까우룽까우룽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923544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지금의 현장 제보 중심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492240" y="3931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시즌제 확장</a:t>
            </a:r>
            <a:endParaRPr lang="en-US" sz="2000" dirty="0"/>
          </a:p>
        </p:txBody>
      </p:sp>
      <p:sp>
        <p:nvSpPr>
          <p:cNvPr id="19" name="2026 가을 원"/>
          <p:cNvSpPr/>
          <p:nvPr/>
        </p:nvSpPr>
        <p:spPr>
          <a:xfrm>
            <a:off x="6766560" y="448056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1" descr="2026 가을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8137" y="4752137"/>
            <a:ext cx="462686" cy="46268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355080" y="5532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2026 가을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단풍·은행</a:t>
            </a:r>
            <a:endParaRPr lang="en-US" sz="1400" dirty="0"/>
          </a:p>
        </p:txBody>
      </p:sp>
      <p:sp>
        <p:nvSpPr>
          <p:cNvPr id="22" name="화살표"/>
          <p:cNvSpPr/>
          <p:nvPr/>
        </p:nvSpPr>
        <p:spPr>
          <a:xfrm>
            <a:off x="7955280" y="4983480"/>
            <a:ext cx="155448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다음 시즌 원"/>
          <p:cNvSpPr/>
          <p:nvPr/>
        </p:nvSpPr>
        <p:spPr>
          <a:xfrm>
            <a:off x="9692640" y="4480560"/>
            <a:ext cx="1005840" cy="10058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4" name="Image 2" descr="다음 시즌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4217" y="4752137"/>
            <a:ext cx="462686" cy="46268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9006840" y="5532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다음 시즌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벚꽃 등 (확장 가능)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구간 태그"/>
          <p:cNvSpPr/>
          <p:nvPr/>
        </p:nvSpPr>
        <p:spPr>
          <a:xfrm>
            <a:off x="548640" y="384048"/>
            <a:ext cx="210312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구간 태그 텍스트"/>
          <p:cNvSpPr txBox="1"/>
          <p:nvPr/>
        </p:nvSpPr>
        <p:spPr>
          <a:xfrm>
            <a:off x="548640" y="3840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프로젝트(안)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핵심 기능과 서버 과제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핵심 기능</a:t>
            </a:r>
            <a:endParaRPr lang="en-US" sz="2000" dirty="0"/>
          </a:p>
        </p:txBody>
      </p:sp>
      <p:sp>
        <p:nvSpPr>
          <p:cNvPr id="6" name="단풍 지도 카드"/>
          <p:cNvSpPr/>
          <p:nvPr/>
        </p:nvSpPr>
        <p:spPr>
          <a:xfrm>
            <a:off x="548640" y="2240280"/>
            <a:ext cx="3566160" cy="1417320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7" name="단풍 지도 원"/>
          <p:cNvSpPr/>
          <p:nvPr/>
        </p:nvSpPr>
        <p:spPr>
          <a:xfrm>
            <a:off x="777240" y="248716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0" descr="단풍 지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750" y="2684678"/>
            <a:ext cx="336499" cy="33649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45920" y="2423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단풍 지도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2880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단풍·은행 현황을 지도로 확인</a:t>
            </a:r>
            <a:endParaRPr lang="en-US" sz="1400" dirty="0"/>
          </a:p>
        </p:txBody>
      </p:sp>
      <p:sp>
        <p:nvSpPr>
          <p:cNvPr id="11" name="사진 제보 카드"/>
          <p:cNvSpPr/>
          <p:nvPr/>
        </p:nvSpPr>
        <p:spPr>
          <a:xfrm>
            <a:off x="4297680" y="2240280"/>
            <a:ext cx="3566160" cy="1417320"/>
          </a:xfrm>
          <a:prstGeom prst="roundRect">
            <a:avLst>
              <a:gd name="adj" fmla="val 9677"/>
            </a:avLst>
          </a:prstGeom>
          <a:solidFill>
            <a:schemeClr val="bg2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12" name="사진 제보 원"/>
          <p:cNvSpPr/>
          <p:nvPr/>
        </p:nvSpPr>
        <p:spPr>
          <a:xfrm>
            <a:off x="4526280" y="248716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1" descr="사진 제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790" y="2684678"/>
            <a:ext cx="336499" cy="33649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94960" y="2423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사진 제보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5394960" y="2880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현장 사용자의 제보로 지도를 채움</a:t>
            </a:r>
            <a:endParaRPr lang="en-US" sz="1400" dirty="0"/>
          </a:p>
        </p:txBody>
      </p:sp>
      <p:sp>
        <p:nvSpPr>
          <p:cNvPr id="16" name="선착순 이벤트 카드"/>
          <p:cNvSpPr/>
          <p:nvPr/>
        </p:nvSpPr>
        <p:spPr>
          <a:xfrm>
            <a:off x="8046720" y="2240280"/>
            <a:ext cx="3566160" cy="1417320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7" name="선착순 이벤트 원"/>
          <p:cNvSpPr/>
          <p:nvPr/>
        </p:nvSpPr>
        <p:spPr>
          <a:xfrm>
            <a:off x="8275320" y="2487168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Image 2" descr="선착순 이벤트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830" y="2684678"/>
            <a:ext cx="336499" cy="33649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44000" y="2423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선착순 이벤트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9144000" y="2880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팀 논의 후 확정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서버 관점 과제</a:t>
            </a:r>
            <a:endParaRPr lang="en-US" sz="2000" dirty="0"/>
          </a:p>
        </p:txBody>
      </p:sp>
      <p:sp>
        <p:nvSpPr>
          <p:cNvPr id="22" name="카드"/>
          <p:cNvSpPr/>
          <p:nvPr/>
        </p:nvSpPr>
        <p:spPr>
          <a:xfrm>
            <a:off x="548640" y="4389120"/>
            <a:ext cx="3566160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계정 관리 원"/>
          <p:cNvSpPr/>
          <p:nvPr/>
        </p:nvSpPr>
        <p:spPr>
          <a:xfrm>
            <a:off x="777240" y="4636008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Image 3" descr="계정 관리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750" y="4833518"/>
            <a:ext cx="336499" cy="336499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645920" y="4526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계정 관리</a:t>
            </a:r>
            <a:endParaRPr lang="en-US" sz="1900" dirty="0"/>
          </a:p>
        </p:txBody>
      </p:sp>
      <p:sp>
        <p:nvSpPr>
          <p:cNvPr id="26" name="Text 20"/>
          <p:cNvSpPr txBox="1"/>
          <p:nvPr/>
        </p:nvSpPr>
        <p:spPr>
          <a:xfrm>
            <a:off x="1645920" y="49834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사용자 계정 데이터 관리</a:t>
            </a:r>
            <a:endParaRPr lang="en-US" sz="1400" dirty="0"/>
          </a:p>
        </p:txBody>
      </p:sp>
      <p:sp>
        <p:nvSpPr>
          <p:cNvPr id="27" name="카드"/>
          <p:cNvSpPr/>
          <p:nvPr/>
        </p:nvSpPr>
        <p:spPr>
          <a:xfrm>
            <a:off x="4297680" y="4389120"/>
            <a:ext cx="3566160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동시 접속·대기 원"/>
          <p:cNvSpPr/>
          <p:nvPr/>
        </p:nvSpPr>
        <p:spPr>
          <a:xfrm>
            <a:off x="4526280" y="4636008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9" name="Image 4" descr="동시 접속·대기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3790" y="4833518"/>
            <a:ext cx="336499" cy="336499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394960" y="4526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동시 접속·대기</a:t>
            </a:r>
            <a:endParaRPr lang="en-US" sz="1900" dirty="0"/>
          </a:p>
        </p:txBody>
      </p:sp>
      <p:sp>
        <p:nvSpPr>
          <p:cNvPr id="31" name="Text 24"/>
          <p:cNvSpPr txBox="1"/>
          <p:nvPr/>
        </p:nvSpPr>
        <p:spPr>
          <a:xfrm>
            <a:off x="5394960" y="49834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동시 접속과 대기로 발생하는 트래픽 처리</a:t>
            </a:r>
            <a:endParaRPr lang="en-US" sz="1400" dirty="0"/>
          </a:p>
        </p:txBody>
      </p:sp>
      <p:sp>
        <p:nvSpPr>
          <p:cNvPr id="32" name="카드"/>
          <p:cNvSpPr/>
          <p:nvPr/>
        </p:nvSpPr>
        <p:spPr>
          <a:xfrm>
            <a:off x="8046720" y="4389120"/>
            <a:ext cx="3566160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정확한 당첨 선정 원"/>
          <p:cNvSpPr/>
          <p:nvPr/>
        </p:nvSpPr>
        <p:spPr>
          <a:xfrm>
            <a:off x="8275320" y="4636008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4" name="Image 5" descr="정확한 당첨 선정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2830" y="4833518"/>
            <a:ext cx="336499" cy="336499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9144000" y="4526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정확한 당첨 선정</a:t>
            </a:r>
            <a:endParaRPr lang="en-US" sz="1900" dirty="0"/>
          </a:p>
        </p:txBody>
      </p:sp>
      <p:sp>
        <p:nvSpPr>
          <p:cNvPr id="36" name="Text 28"/>
          <p:cNvSpPr txBox="1"/>
          <p:nvPr/>
        </p:nvSpPr>
        <p:spPr>
          <a:xfrm>
            <a:off x="9144000" y="49834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동시 요청 상황에서 당첨자를 정확하게 선정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구간 태그"/>
          <p:cNvSpPr/>
          <p:nvPr/>
        </p:nvSpPr>
        <p:spPr>
          <a:xfrm>
            <a:off x="548640" y="384048"/>
            <a:ext cx="210312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구간 태그 텍스트"/>
          <p:cNvSpPr txBox="1"/>
          <p:nvPr/>
        </p:nvSpPr>
        <p:spPr>
          <a:xfrm>
            <a:off x="548640" y="3840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프로젝트(안)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수업 기술 적용과 일정</a:t>
            </a:r>
            <a:endParaRPr lang="en-US" sz="3600" dirty="0"/>
          </a:p>
        </p:txBody>
      </p:sp>
      <p:graphicFrame>
        <p:nvGraphicFramePr>
          <p:cNvPr id="14" name="수업 기술 매핑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7132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수업 내용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서비스에서의 적용(안)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가상 네트워크</a:t>
                      </a:r>
                      <a:endParaRPr lang="en-US" sz="1500" dirty="0"/>
                    </a:p>
                  </a:txBody>
                  <a:tcPr marL="182880" marR="1828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서비스 네트워크 구성·격리</a:t>
                      </a:r>
                      <a:endParaRPr lang="en-US" sz="1500" dirty="0"/>
                    </a:p>
                  </a:txBody>
                  <a:tcPr marL="182880" marR="1828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서버 구축·운영 자동화</a:t>
                      </a:r>
                      <a:endParaRPr lang="en-US" sz="1500" dirty="0"/>
                    </a:p>
                  </a:txBody>
                  <a:tcPr marL="182880" marR="1828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서버 배포·운영 자동화</a:t>
                      </a:r>
                      <a:endParaRPr lang="en-US" sz="1500" dirty="0"/>
                    </a:p>
                  </a:txBody>
                  <a:tcPr marL="182880" marR="1828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스토리지·데이터 관리</a:t>
                      </a:r>
                      <a:endParaRPr lang="en-US" sz="1500" dirty="0"/>
                    </a:p>
                  </a:txBody>
                  <a:tcPr marL="182880" marR="1828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제보 사진 저장</a:t>
                      </a:r>
                      <a:endParaRPr lang="en-US" sz="1500" dirty="0"/>
                    </a:p>
                  </a:txBody>
                  <a:tcPr marL="182880" marR="1828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고가용성·확장성</a:t>
                      </a:r>
                      <a:endParaRPr lang="en-US" sz="1500" dirty="0"/>
                    </a:p>
                  </a:txBody>
                  <a:tcPr marL="182880" marR="1828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로드밸런서 + 오토스케일링</a:t>
                      </a:r>
                      <a:endParaRPr lang="en-US" sz="1500" dirty="0"/>
                    </a:p>
                  </a:txBody>
                  <a:tcPr marL="182880" marR="1828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클라우드 DB</a:t>
                      </a:r>
                      <a:endParaRPr lang="en-US" sz="1500" dirty="0"/>
                    </a:p>
                  </a:txBody>
                  <a:tcPr marL="182880" marR="1828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계정·제보·당첨 기록</a:t>
                      </a:r>
                      <a:endParaRPr lang="en-US" sz="1500" dirty="0"/>
                    </a:p>
                  </a:txBody>
                  <a:tcPr marL="182880" marR="1828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251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일정</a:t>
            </a:r>
            <a:endParaRPr lang="en-US" sz="2000" dirty="0"/>
          </a:p>
        </p:txBody>
      </p:sp>
      <p:sp>
        <p:nvSpPr>
          <p:cNvPr id="7" name="일정 1"/>
          <p:cNvSpPr/>
          <p:nvPr/>
        </p:nvSpPr>
        <p:spPr>
          <a:xfrm>
            <a:off x="548640" y="4709160"/>
            <a:ext cx="256032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7091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서비스 구현</a:t>
            </a:r>
            <a:endParaRPr lang="en-US" sz="1600" dirty="0"/>
          </a:p>
        </p:txBody>
      </p:sp>
      <p:sp>
        <p:nvSpPr>
          <p:cNvPr id="9" name="화살표"/>
          <p:cNvSpPr/>
          <p:nvPr/>
        </p:nvSpPr>
        <p:spPr>
          <a:xfrm>
            <a:off x="3136392" y="5138928"/>
            <a:ext cx="219456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일정 2"/>
          <p:cNvSpPr/>
          <p:nvPr/>
        </p:nvSpPr>
        <p:spPr>
          <a:xfrm>
            <a:off x="3383280" y="4709160"/>
            <a:ext cx="256032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83280" y="47091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인프라 구성</a:t>
            </a:r>
            <a:endParaRPr lang="en-US" sz="1600" dirty="0"/>
          </a:p>
        </p:txBody>
      </p:sp>
      <p:sp>
        <p:nvSpPr>
          <p:cNvPr id="12" name="화살표"/>
          <p:cNvSpPr/>
          <p:nvPr/>
        </p:nvSpPr>
        <p:spPr>
          <a:xfrm>
            <a:off x="5971032" y="5138928"/>
            <a:ext cx="219456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일정 3"/>
          <p:cNvSpPr/>
          <p:nvPr/>
        </p:nvSpPr>
        <p:spPr>
          <a:xfrm>
            <a:off x="6217920" y="4709160"/>
            <a:ext cx="256032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0" y="47091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부하·장애 테스트</a:t>
            </a:r>
            <a:endParaRPr lang="en-US" sz="1600" dirty="0"/>
          </a:p>
        </p:txBody>
      </p:sp>
      <p:sp>
        <p:nvSpPr>
          <p:cNvPr id="15" name="화살표"/>
          <p:cNvSpPr/>
          <p:nvPr/>
        </p:nvSpPr>
        <p:spPr>
          <a:xfrm>
            <a:off x="8805672" y="5138928"/>
            <a:ext cx="219456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일정 4"/>
          <p:cNvSpPr/>
          <p:nvPr/>
        </p:nvSpPr>
        <p:spPr>
          <a:xfrm>
            <a:off x="9052560" y="4709160"/>
            <a:ext cx="2560320" cy="868680"/>
          </a:xfrm>
          <a:prstGeom prst="roundRect">
            <a:avLst>
              <a:gd name="adj" fmla="val 1263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052560" y="47091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실서비스 시연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10월 30일경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※ 비교과 이수 과정에서 프로젝트 범위·주제는 변경될 수 있음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uroong Autumn">
  <a:themeElements>
    <a:clrScheme name="Kauroong Autumn">
      <a:dk1>
        <a:srgbClr val="3B2A20"/>
      </a:dk1>
      <a:lt1>
        <a:srgbClr val="FFFFFF"/>
      </a:lt1>
      <a:dk2>
        <a:srgbClr val="6B4A3A"/>
      </a:dk2>
      <a:lt2>
        <a:srgbClr val="FBEFE3"/>
      </a:lt2>
      <a:accent1>
        <a:srgbClr val="D9632B"/>
      </a:accent1>
      <a:accent2>
        <a:srgbClr val="B23A2E"/>
      </a:accent2>
      <a:accent3>
        <a:srgbClr val="F2B134"/>
      </a:accent3>
      <a:accent4>
        <a:srgbClr val="7D8F4E"/>
      </a:accent4>
      <a:accent5>
        <a:srgbClr val="7A6A5E"/>
      </a:accent5>
      <a:accent6>
        <a:srgbClr val="3E7C8C"/>
      </a:accent6>
      <a:hlink>
        <a:srgbClr val="D9632B"/>
      </a:hlink>
      <a:folHlink>
        <a:srgbClr val="7A6A5E"/>
      </a:folHlink>
    </a:clrScheme>
    <a:fontScheme name="Kauroong Autumn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까우룽까우룽 – 비교과 프로젝트(안) 발표</dc:title>
  <dc:subject>PptxGenJS Presentation</dc:subject>
  <dc:creator>최은호</dc:creator>
  <cp:lastModifiedBy>최은호</cp:lastModifiedBy>
  <cp:revision>1</cp:revision>
  <dcterms:created xsi:type="dcterms:W3CDTF">2026-10-14T05:58:29Z</dcterms:created>
  <dcterms:modified xsi:type="dcterms:W3CDTF">2026-10-14T05:58:29Z</dcterms:modified>
</cp:coreProperties>
</file>